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Canada HPI</c:v>
                </c:pt>
              </c:strCache>
            </c:strRef>
          </c:tx>
          <c:spPr>
            <a:ln w="31750" cap="flat">
              <a:solidFill>
                <a:srgbClr val="1A56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56DB"/>
              </a:solidFill>
              <a:ln w="9525" cap="flat">
                <a:solidFill>
                  <a:srgbClr val="1A56D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Jan'20</c:v>
                </c:pt>
                <c:pt idx="1">
                  <c:v>Jul'20</c:v>
                </c:pt>
                <c:pt idx="2">
                  <c:v>Jan'21</c:v>
                </c:pt>
                <c:pt idx="3">
                  <c:v>Jul'21</c:v>
                </c:pt>
                <c:pt idx="4">
                  <c:v>Jan'22</c:v>
                </c:pt>
                <c:pt idx="5">
                  <c:v>Jul'22</c:v>
                </c:pt>
                <c:pt idx="6">
                  <c:v>Jan'23</c:v>
                </c:pt>
                <c:pt idx="7">
                  <c:v>Jul'23</c:v>
                </c:pt>
                <c:pt idx="8">
                  <c:v>Jan'24</c:v>
                </c:pt>
                <c:pt idx="9">
                  <c:v>Jul'24</c:v>
                </c:pt>
                <c:pt idx="10">
                  <c:v>Jan'25</c:v>
                </c:pt>
                <c:pt idx="11">
                  <c:v>Jul'25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103.4</c:v>
                </c:pt>
                <c:pt idx="1">
                  <c:v>104.7</c:v>
                </c:pt>
                <c:pt idx="2">
                  <c:v>109</c:v>
                </c:pt>
                <c:pt idx="3">
                  <c:v>117.2</c:v>
                </c:pt>
                <c:pt idx="4">
                  <c:v>121.9</c:v>
                </c:pt>
                <c:pt idx="5">
                  <c:v>126</c:v>
                </c:pt>
                <c:pt idx="6">
                  <c:v>125.2</c:v>
                </c:pt>
                <c:pt idx="7">
                  <c:v>124.9</c:v>
                </c:pt>
                <c:pt idx="8">
                  <c:v>124.3</c:v>
                </c:pt>
                <c:pt idx="9">
                  <c:v>125</c:v>
                </c:pt>
                <c:pt idx="10">
                  <c:v>124.4</c:v>
                </c:pt>
                <c:pt idx="11">
                  <c:v>123.3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5CB-4902-9648-C779C1AB1F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5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Province Index</c:v>
                </c:pt>
              </c:strCache>
            </c:strRef>
          </c:tx>
          <c:spPr>
            <a:solidFill>
              <a:srgbClr val="0694A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AB</c:v>
                </c:pt>
                <c:pt idx="1">
                  <c:v>BC</c:v>
                </c:pt>
                <c:pt idx="2">
                  <c:v>MB</c:v>
                </c:pt>
                <c:pt idx="3">
                  <c:v>NB</c:v>
                </c:pt>
                <c:pt idx="4">
                  <c:v>NL</c:v>
                </c:pt>
                <c:pt idx="5">
                  <c:v>NS</c:v>
                </c:pt>
                <c:pt idx="6">
                  <c:v>ON</c:v>
                </c:pt>
                <c:pt idx="7">
                  <c:v>PE</c:v>
                </c:pt>
                <c:pt idx="8">
                  <c:v>QC</c:v>
                </c:pt>
                <c:pt idx="9">
                  <c:v>SK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118.5</c:v>
                </c:pt>
                <c:pt idx="1">
                  <c:v>124.6</c:v>
                </c:pt>
                <c:pt idx="2">
                  <c:v>145.4</c:v>
                </c:pt>
                <c:pt idx="3">
                  <c:v>120.7</c:v>
                </c:pt>
                <c:pt idx="4">
                  <c:v>109.8</c:v>
                </c:pt>
                <c:pt idx="5">
                  <c:v>127.5</c:v>
                </c:pt>
                <c:pt idx="6">
                  <c:v>120</c:v>
                </c:pt>
                <c:pt idx="7">
                  <c:v>123.7</c:v>
                </c:pt>
                <c:pt idx="8">
                  <c:v>149.1</c:v>
                </c:pt>
                <c:pt idx="9">
                  <c:v>110.1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8F-4096-A07B-6900823351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Toronto</c:v>
                </c:pt>
              </c:strCache>
            </c:strRef>
          </c:tx>
          <c:spPr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Jan'20</c:v>
                </c:pt>
                <c:pt idx="1">
                  <c:v>Jul'20</c:v>
                </c:pt>
                <c:pt idx="2">
                  <c:v>Jan'21</c:v>
                </c:pt>
                <c:pt idx="3">
                  <c:v>Jul'21</c:v>
                </c:pt>
                <c:pt idx="4">
                  <c:v>Jan'22</c:v>
                </c:pt>
                <c:pt idx="5">
                  <c:v>Jul'22</c:v>
                </c:pt>
                <c:pt idx="6">
                  <c:v>Jan'23</c:v>
                </c:pt>
                <c:pt idx="7">
                  <c:v>Jul'23</c:v>
                </c:pt>
                <c:pt idx="8">
                  <c:v>Jan'24</c:v>
                </c:pt>
                <c:pt idx="9">
                  <c:v>Jul'24</c:v>
                </c:pt>
                <c:pt idx="10">
                  <c:v>Jan'25</c:v>
                </c:pt>
                <c:pt idx="11">
                  <c:v>Jul'25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102.1</c:v>
                </c:pt>
                <c:pt idx="1">
                  <c:v>103.1</c:v>
                </c:pt>
                <c:pt idx="2">
                  <c:v>106.2</c:v>
                </c:pt>
                <c:pt idx="3">
                  <c:v>110.2</c:v>
                </c:pt>
                <c:pt idx="4">
                  <c:v>114.1</c:v>
                </c:pt>
                <c:pt idx="5">
                  <c:v>115.6</c:v>
                </c:pt>
                <c:pt idx="6">
                  <c:v>115.6</c:v>
                </c:pt>
                <c:pt idx="7">
                  <c:v>115.1</c:v>
                </c:pt>
                <c:pt idx="8">
                  <c:v>114.6</c:v>
                </c:pt>
                <c:pt idx="9">
                  <c:v>114.5</c:v>
                </c:pt>
                <c:pt idx="10">
                  <c:v>112.6</c:v>
                </c:pt>
                <c:pt idx="11">
                  <c:v>110.9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E5B-4C40-8B09-B879B8E80C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Vancouver</c:v>
                </c:pt>
              </c:strCache>
            </c:strRef>
          </c:tx>
          <c:spPr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Jan'20</c:v>
                </c:pt>
                <c:pt idx="1">
                  <c:v>Jul'20</c:v>
                </c:pt>
                <c:pt idx="2">
                  <c:v>Jan'21</c:v>
                </c:pt>
                <c:pt idx="3">
                  <c:v>Jul'21</c:v>
                </c:pt>
                <c:pt idx="4">
                  <c:v>Jan'22</c:v>
                </c:pt>
                <c:pt idx="5">
                  <c:v>Jul'22</c:v>
                </c:pt>
                <c:pt idx="6">
                  <c:v>Jan'23</c:v>
                </c:pt>
                <c:pt idx="7">
                  <c:v>Jul'23</c:v>
                </c:pt>
                <c:pt idx="8">
                  <c:v>Jan'24</c:v>
                </c:pt>
                <c:pt idx="9">
                  <c:v>Jul'24</c:v>
                </c:pt>
                <c:pt idx="10">
                  <c:v>Jan'25</c:v>
                </c:pt>
                <c:pt idx="11">
                  <c:v>Jul'25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106</c:v>
                </c:pt>
                <c:pt idx="1">
                  <c:v>107.8</c:v>
                </c:pt>
                <c:pt idx="2">
                  <c:v>113.1</c:v>
                </c:pt>
                <c:pt idx="3">
                  <c:v>120.9</c:v>
                </c:pt>
                <c:pt idx="4">
                  <c:v>127.1</c:v>
                </c:pt>
                <c:pt idx="5">
                  <c:v>129.4</c:v>
                </c:pt>
                <c:pt idx="6">
                  <c:v>127.7</c:v>
                </c:pt>
                <c:pt idx="7">
                  <c:v>128.4</c:v>
                </c:pt>
                <c:pt idx="8">
                  <c:v>128.30000000000001</c:v>
                </c:pt>
                <c:pt idx="9">
                  <c:v>128.80000000000001</c:v>
                </c:pt>
                <c:pt idx="10">
                  <c:v>128</c:v>
                </c:pt>
                <c:pt idx="11">
                  <c:v>126.8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E5B-4C40-8B09-B879B8E80C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728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itanshuBhatt/Canadian-housing-price-index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itanshuBhatt/Canadian-housing-price-index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itanshuBhatt/Canadian-housing-price-inde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HousingAnalytics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Housing Price Index Dashboard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1097280" y="2788920"/>
            <a:ext cx="3291840" cy="822960"/>
          </a:xfrm>
          <a:prstGeom prst="rect">
            <a:avLst/>
          </a:prstGeom>
          <a:solidFill>
            <a:srgbClr val="1A3470"/>
          </a:solidFill>
          <a:ln w="1270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234440" y="2862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 &amp; Number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3154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(CPRO 2201)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2788920"/>
            <a:ext cx="3291840" cy="822960"/>
          </a:xfrm>
          <a:prstGeom prst="rect">
            <a:avLst/>
          </a:prstGeom>
          <a:solidFill>
            <a:srgbClr val="1A3470"/>
          </a:solidFill>
          <a:ln w="1270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074920" y="2862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4920" y="3154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r>
              <a:rPr lang="en-US" sz="13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April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221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4133088"/>
            <a:ext cx="2514600" cy="713232"/>
          </a:xfrm>
          <a:prstGeom prst="rect">
            <a:avLst/>
          </a:prstGeom>
          <a:solidFill>
            <a:srgbClr val="1A3470"/>
          </a:solidFill>
          <a:ln w="1270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12648" y="422452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Hitanshu Bhatt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000367185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4133088"/>
            <a:ext cx="2514600" cy="713232"/>
          </a:xfrm>
          <a:prstGeom prst="rect">
            <a:avLst/>
          </a:prstGeom>
          <a:solidFill>
            <a:srgbClr val="1A3470"/>
          </a:solidFill>
          <a:ln w="1270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401568" y="422452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Harpreet Kaur </a:t>
            </a:r>
            <a:endParaRPr lang="en-US" sz="1000" dirty="0"/>
          </a:p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000375830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4133088"/>
            <a:ext cx="2514600" cy="713232"/>
          </a:xfrm>
          <a:prstGeom prst="rect">
            <a:avLst/>
          </a:prstGeom>
          <a:solidFill>
            <a:srgbClr val="1A3470"/>
          </a:solidFill>
          <a:ln w="1270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17" name="Text 15"/>
          <p:cNvSpPr/>
          <p:nvPr/>
        </p:nvSpPr>
        <p:spPr>
          <a:xfrm>
            <a:off x="6190488" y="4224528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Yadveer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Kaur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000376834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Deer Polytechnic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– New Housing Price Index (NHPI)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Canada – Table 18-10-0205-01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47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Housing Price Index (house only)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2951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295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2,880 records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642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642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geographic areas (provinces + cities)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990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990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2020 – December 2025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685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GEO, CATEGORY, VALUE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4032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4032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(UTF-8-sig encoded)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1051560"/>
            <a:ext cx="43891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663440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Sample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44752"/>
          <a:ext cx="4023360" cy="142646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Alberta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Toronto, Ontario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2025-12-01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Vancouver, BC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2025-12-01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Quebec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480560" y="3017520"/>
            <a:ext cx="43891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4"/>
          <p:cNvSpPr/>
          <p:nvPr/>
        </p:nvSpPr>
        <p:spPr>
          <a:xfrm>
            <a:off x="4663440" y="3108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Schema  (HousingData model)</a:t>
            </a:r>
            <a:endParaRPr lang="en-US" sz="1100" dirty="0"/>
          </a:p>
        </p:txBody>
      </p:sp>
      <p:graphicFrame>
        <p:nvGraphicFramePr>
          <p:cNvPr id="2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401568"/>
          <a:ext cx="4114800" cy="13258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94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94A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9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BigAutoField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(auto)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YYYY-MM-DD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CharField(255)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CharField(100)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DecimalField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max_digits=10, dp=2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upload to clean database records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508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508760" cy="2011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836676" y="1298448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37160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3192" y="188366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267712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CSV via form.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validated: .csv ext, non-empty, required columns present.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837944" y="2267712"/>
            <a:ext cx="10058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1938528" y="1005840"/>
            <a:ext cx="1508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1938528" y="1005840"/>
            <a:ext cx="1508760" cy="201168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2455164" y="1298448"/>
            <a:ext cx="475488" cy="475488"/>
          </a:xfrm>
          <a:prstGeom prst="ellipse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316" y="137160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11680" y="188366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Decode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029968" y="2267712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UTF-8-sig encoding.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BOM characters in Stats Canada files.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456432" y="2267712"/>
            <a:ext cx="10058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5"/>
          <p:cNvSpPr/>
          <p:nvPr/>
        </p:nvSpPr>
        <p:spPr>
          <a:xfrm>
            <a:off x="3557016" y="1005840"/>
            <a:ext cx="1508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6"/>
          <p:cNvSpPr/>
          <p:nvPr/>
        </p:nvSpPr>
        <p:spPr>
          <a:xfrm>
            <a:off x="3557016" y="1005840"/>
            <a:ext cx="150876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7"/>
          <p:cNvSpPr/>
          <p:nvPr/>
        </p:nvSpPr>
        <p:spPr>
          <a:xfrm>
            <a:off x="4073652" y="1298448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804" y="137160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30168" y="188366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Parse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648456" y="2267712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DictReader iterates rows.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normalized to uppercase for matching.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074920" y="2267712"/>
            <a:ext cx="10058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1"/>
          <p:cNvSpPr/>
          <p:nvPr/>
        </p:nvSpPr>
        <p:spPr>
          <a:xfrm>
            <a:off x="5175504" y="1005840"/>
            <a:ext cx="1508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Shape 22"/>
          <p:cNvSpPr/>
          <p:nvPr/>
        </p:nvSpPr>
        <p:spPr>
          <a:xfrm>
            <a:off x="5175504" y="1005840"/>
            <a:ext cx="150876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3"/>
          <p:cNvSpPr/>
          <p:nvPr/>
        </p:nvSpPr>
        <p:spPr>
          <a:xfrm>
            <a:off x="5692140" y="1298448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292" y="1371600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248656" y="188366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266944" y="2267712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malformed rows.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 (YYYY-MM-DD) and Decimal value; skip on error.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6693408" y="2267712"/>
            <a:ext cx="10058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27"/>
          <p:cNvSpPr/>
          <p:nvPr/>
        </p:nvSpPr>
        <p:spPr>
          <a:xfrm>
            <a:off x="6793992" y="1005840"/>
            <a:ext cx="15087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4" name="Shape 28"/>
          <p:cNvSpPr/>
          <p:nvPr/>
        </p:nvSpPr>
        <p:spPr>
          <a:xfrm>
            <a:off x="6793992" y="1005840"/>
            <a:ext cx="1508760" cy="2011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29"/>
          <p:cNvSpPr/>
          <p:nvPr/>
        </p:nvSpPr>
        <p:spPr>
          <a:xfrm>
            <a:off x="7310628" y="1298448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780" y="1371600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867144" y="1883664"/>
            <a:ext cx="1362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Persist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885432" y="2267712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update_or_create per (date, geo, category).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re-upload never creates duplicates.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320040" y="3840480"/>
            <a:ext cx="8503920" cy="74980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3"/>
          <p:cNvSpPr/>
          <p:nvPr/>
        </p:nvSpPr>
        <p:spPr>
          <a:xfrm>
            <a:off x="502920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502920" y="4160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transaction.atomic() — all rows commit or rollback together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update_or_create — safe to re-upload the same dataset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type used for VALUE — avoids floating-point rounding errors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stored lowercase — consistent across queries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Project Structure — Models &amp; Views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MTV architecture: data layer and business logic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1887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170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(models.py)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627632"/>
            <a:ext cx="3703320" cy="274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594360" y="166420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HousingData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1929384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530352" y="196596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  —  DateField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2194560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530352" y="223113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geo  —  CharField(255)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2459736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530352" y="249631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category  —  CharField(100)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2724912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5"/>
          <p:cNvSpPr/>
          <p:nvPr/>
        </p:nvSpPr>
        <p:spPr>
          <a:xfrm>
            <a:off x="530352" y="276148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value  —  DecimalField(10,2)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136392"/>
            <a:ext cx="3703320" cy="274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7"/>
          <p:cNvSpPr/>
          <p:nvPr/>
        </p:nvSpPr>
        <p:spPr>
          <a:xfrm>
            <a:off x="594360" y="31729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3438144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530352" y="347472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  —  OneToOneField(User)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3703320"/>
            <a:ext cx="3703320" cy="256032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1"/>
          <p:cNvSpPr/>
          <p:nvPr/>
        </p:nvSpPr>
        <p:spPr>
          <a:xfrm>
            <a:off x="530352" y="373989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dob  —  DateField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63440" y="1024128"/>
            <a:ext cx="41605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3"/>
          <p:cNvSpPr/>
          <p:nvPr/>
        </p:nvSpPr>
        <p:spPr>
          <a:xfrm>
            <a:off x="4846320" y="1115568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188720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58968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(views.py)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773168" y="1600200"/>
            <a:ext cx="3913632" cy="420624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6"/>
          <p:cNvSpPr/>
          <p:nvPr/>
        </p:nvSpPr>
        <p:spPr>
          <a:xfrm>
            <a:off x="4882896" y="16367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login_view()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882896" y="18196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lookup → authenticate → session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773168" y="2103120"/>
            <a:ext cx="39136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29"/>
          <p:cNvSpPr/>
          <p:nvPr/>
        </p:nvSpPr>
        <p:spPr>
          <a:xfrm>
            <a:off x="4882896" y="2139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signup_view()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882896" y="232257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+ UserProfile, auto-login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4773168" y="2606040"/>
            <a:ext cx="3913632" cy="420624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2"/>
          <p:cNvSpPr/>
          <p:nvPr/>
        </p:nvSpPr>
        <p:spPr>
          <a:xfrm>
            <a:off x="4882896" y="26426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logout_view()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4882896" y="28254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logout → redirect home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773168" y="3108960"/>
            <a:ext cx="39136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5"/>
          <p:cNvSpPr/>
          <p:nvPr/>
        </p:nvSpPr>
        <p:spPr>
          <a:xfrm>
            <a:off x="4882896" y="31455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home()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4882896" y="33284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stats passed to template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4773168" y="3611880"/>
            <a:ext cx="3913632" cy="420624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38"/>
          <p:cNvSpPr/>
          <p:nvPr/>
        </p:nvSpPr>
        <p:spPr>
          <a:xfrm>
            <a:off x="4882896" y="3648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upload_csv()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6912864" y="36484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882896" y="38313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parse → update_or_create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4773168" y="4114800"/>
            <a:ext cx="39136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2"/>
          <p:cNvSpPr/>
          <p:nvPr/>
        </p:nvSpPr>
        <p:spPr>
          <a:xfrm>
            <a:off x="4882896" y="41513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charts()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6912864" y="41513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4882896" y="43342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ORM → JSON → 4 chart contexts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Project Structure — Templates &amp;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templates and MTV request 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475488" cy="475488"/>
          </a:xfrm>
          <a:prstGeom prst="ellipse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1887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170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3794760" cy="420624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594360" y="1609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base.html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" y="179222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bar, auth initials, dropdown, layout container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084832"/>
            <a:ext cx="3794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594360" y="2121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home.html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" y="230428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overview: records, cities, provinces, date range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2596896"/>
            <a:ext cx="3794760" cy="420624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594360" y="2633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4360" y="281635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form with CSRF protection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3794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594360" y="31455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signup.html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94360" y="3328416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registration form including date of birth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3621024"/>
            <a:ext cx="3794760" cy="420624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594360" y="3657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upload.html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94360" y="384048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input, success/error feedback messages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57200" y="4133088"/>
            <a:ext cx="37947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2"/>
          <p:cNvSpPr/>
          <p:nvPr/>
        </p:nvSpPr>
        <p:spPr>
          <a:xfrm>
            <a:off x="594360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charts.html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4360" y="435254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Chart.js charts + interactive market explorer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63440" y="1024128"/>
            <a:ext cx="4160520" cy="39182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5"/>
          <p:cNvSpPr/>
          <p:nvPr/>
        </p:nvSpPr>
        <p:spPr>
          <a:xfrm>
            <a:off x="4846320" y="1115568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188720"/>
            <a:ext cx="329184" cy="32918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458968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MTV Request Flow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5166360" y="1645920"/>
            <a:ext cx="3200400" cy="45720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Text 28"/>
          <p:cNvSpPr/>
          <p:nvPr/>
        </p:nvSpPr>
        <p:spPr>
          <a:xfrm>
            <a:off x="5257800" y="16824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257800" y="18836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Chart.js + JS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6647688" y="2121408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1"/>
          <p:cNvSpPr/>
          <p:nvPr/>
        </p:nvSpPr>
        <p:spPr>
          <a:xfrm>
            <a:off x="5166360" y="2331720"/>
            <a:ext cx="32004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Text 32"/>
          <p:cNvSpPr/>
          <p:nvPr/>
        </p:nvSpPr>
        <p:spPr>
          <a:xfrm>
            <a:off x="5257800" y="23682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Router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257800" y="25694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urls.py → view function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647688" y="2807208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5"/>
          <p:cNvSpPr/>
          <p:nvPr/>
        </p:nvSpPr>
        <p:spPr>
          <a:xfrm>
            <a:off x="5166360" y="3017520"/>
            <a:ext cx="320040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0" name="Text 36"/>
          <p:cNvSpPr/>
          <p:nvPr/>
        </p:nvSpPr>
        <p:spPr>
          <a:xfrm>
            <a:off x="5257800" y="30540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257800" y="32552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 – logic + queries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6647688" y="3493008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Shape 39"/>
          <p:cNvSpPr/>
          <p:nvPr/>
        </p:nvSpPr>
        <p:spPr>
          <a:xfrm>
            <a:off x="5166360" y="3703320"/>
            <a:ext cx="32004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4" name="Text 40"/>
          <p:cNvSpPr/>
          <p:nvPr/>
        </p:nvSpPr>
        <p:spPr>
          <a:xfrm>
            <a:off x="5257800" y="3739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5257800" y="39410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– Django ORM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6647688" y="4178808"/>
            <a:ext cx="54864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Shape 43"/>
          <p:cNvSpPr/>
          <p:nvPr/>
        </p:nvSpPr>
        <p:spPr>
          <a:xfrm>
            <a:off x="5166360" y="4389120"/>
            <a:ext cx="32004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8" name="Text 44"/>
          <p:cNvSpPr/>
          <p:nvPr/>
        </p:nvSpPr>
        <p:spPr>
          <a:xfrm>
            <a:off x="5257800" y="44256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5257800" y="462686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db.sqlite3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— National Trend &amp; Provincial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powered — server-side JSON context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National HPI Trend  (Jan 2020 – Dec 2025)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23444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3159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(base 2017=100)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0" y="960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HPI — December 2025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5349240" y="1234440"/>
          <a:ext cx="36118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349240" y="43159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BC MB NB NL NS ON PE QC SK — Abbreviations for Canadian provinces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— City Comparison &amp; Interactive Explorer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Two-city trend + user-driven market explorer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vs. Vancouver HPI  (2020–2025)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23444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49240" y="1024128"/>
            <a:ext cx="361188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5"/>
          <p:cNvSpPr/>
          <p:nvPr/>
        </p:nvSpPr>
        <p:spPr>
          <a:xfrm>
            <a:off x="5468112" y="1115568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64" y="118872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0" y="11521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Market Explorer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0" y="16002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type: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748272" y="1600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Provinces / Cities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486400" y="19659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Multi-select: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748272" y="1965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regions at once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486400" y="23317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type: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748272" y="23317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or Bar — live switch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86400" y="2697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range: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748272" y="2697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start &amp; end dates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486400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748272" y="30632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pre-loaded JSON payload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486400" y="3429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AJAX: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748272" y="3429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filtering is client-side JS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email-based auth built on Django's auth framework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64592" cy="1600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576072" y="1170432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24358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1704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Login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6072" y="160020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log in with email (not username). Django's User model stores email; username field set equal to email on signup for compatibility.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08960" y="10058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3108960" y="1005840"/>
            <a:ext cx="164592" cy="1600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3364992" y="1170432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124358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1704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 Model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364992" y="160020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Django User via OneToOneField. Stores date of birth collected during signup — not available on the base User model.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897880" y="10058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4"/>
          <p:cNvSpPr/>
          <p:nvPr/>
        </p:nvSpPr>
        <p:spPr>
          <a:xfrm>
            <a:off x="5897880" y="1005840"/>
            <a:ext cx="164592" cy="160020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5"/>
          <p:cNvSpPr/>
          <p:nvPr/>
        </p:nvSpPr>
        <p:spPr>
          <a:xfrm>
            <a:off x="6153912" y="1170432"/>
            <a:ext cx="475488" cy="475488"/>
          </a:xfrm>
          <a:prstGeom prst="ellipse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24358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6560" y="11704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153912" y="160020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@login_required decorator on upload_csv and charts views. Unauthenticated requests auto-redirect to /login/ via LOGIN_URL setting.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20040" y="2770632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19"/>
          <p:cNvSpPr/>
          <p:nvPr/>
        </p:nvSpPr>
        <p:spPr>
          <a:xfrm>
            <a:off x="320040" y="2770632"/>
            <a:ext cx="164592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0"/>
          <p:cNvSpPr/>
          <p:nvPr/>
        </p:nvSpPr>
        <p:spPr>
          <a:xfrm>
            <a:off x="576072" y="2935224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008376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88720" y="29352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76072" y="3364992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csrf_token %} included in all POST forms. Django's CsrfViewMiddleware active in settings.py for all requests.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108960" y="2770632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Shape 24"/>
          <p:cNvSpPr/>
          <p:nvPr/>
        </p:nvSpPr>
        <p:spPr>
          <a:xfrm>
            <a:off x="3108960" y="2770632"/>
            <a:ext cx="164592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5"/>
          <p:cNvSpPr/>
          <p:nvPr/>
        </p:nvSpPr>
        <p:spPr>
          <a:xfrm>
            <a:off x="3364992" y="2935224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3008376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77640" y="29352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364992" y="3364992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clean_email() checks for duplicate accounts. Password min length enforced (8 chars). File upload checks .csv extension and non-zero size.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5897880" y="2770632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Shape 29"/>
          <p:cNvSpPr/>
          <p:nvPr/>
        </p:nvSpPr>
        <p:spPr>
          <a:xfrm>
            <a:off x="5897880" y="2770632"/>
            <a:ext cx="164592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0"/>
          <p:cNvSpPr/>
          <p:nvPr/>
        </p:nvSpPr>
        <p:spPr>
          <a:xfrm>
            <a:off x="6153912" y="2935224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3008376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66560" y="29352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6153912" y="3364992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session middleware handles login state. logout_view calls Django's logout() to clear session. Redirect on already-authenticated users.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 &amp; Key Statistics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overview — built with Django MTV pattern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65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965960" cy="16459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069848" y="1280160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533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847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20040" y="234086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269748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from CSV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496312" y="1024128"/>
            <a:ext cx="1965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2496312" y="1024128"/>
            <a:ext cx="1965960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3246120" y="1280160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35331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96312" y="1847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2496312" y="234086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Regions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514604" y="2724661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 + Cities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672584" y="1024128"/>
            <a:ext cx="1965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6"/>
          <p:cNvSpPr/>
          <p:nvPr/>
        </p:nvSpPr>
        <p:spPr>
          <a:xfrm>
            <a:off x="4672584" y="1024128"/>
            <a:ext cx="1965960" cy="164592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7"/>
          <p:cNvSpPr/>
          <p:nvPr/>
        </p:nvSpPr>
        <p:spPr>
          <a:xfrm>
            <a:off x="5422392" y="1280160"/>
            <a:ext cx="475488" cy="475488"/>
          </a:xfrm>
          <a:prstGeom prst="ellipse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135331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72584" y="1847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4672584" y="234086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Data Points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681730" y="2653889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2020 – Dec 2025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6848856" y="1024128"/>
            <a:ext cx="19659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Shape 22"/>
          <p:cNvSpPr/>
          <p:nvPr/>
        </p:nvSpPr>
        <p:spPr>
          <a:xfrm>
            <a:off x="6848856" y="1024128"/>
            <a:ext cx="196596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3"/>
          <p:cNvSpPr/>
          <p:nvPr/>
        </p:nvSpPr>
        <p:spPr>
          <a:xfrm>
            <a:off x="7598664" y="1280160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816" y="1353312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48856" y="18470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5"/>
          <p:cNvSpPr/>
          <p:nvPr/>
        </p:nvSpPr>
        <p:spPr>
          <a:xfrm>
            <a:off x="6848856" y="234086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Views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848856" y="26426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Compare, Explorer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320040" y="2880360"/>
            <a:ext cx="8503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4" name="Text 28"/>
          <p:cNvSpPr/>
          <p:nvPr/>
        </p:nvSpPr>
        <p:spPr>
          <a:xfrm>
            <a:off x="50292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Delivered</a:t>
            </a:r>
            <a:endParaRPr lang="en-US" sz="11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310128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1520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auth: 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2103120" y="329184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login, signup with DOB, CSRF on all forms, @login_required on protected routes</a:t>
            </a:r>
            <a:endParaRPr lang="en-US" sz="95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584448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3152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ingestion: 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2103120" y="356616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validate → parse → update_or_create (idempotent, atomic, encoding-safe)</a:t>
            </a:r>
            <a:endParaRPr lang="en-US" sz="95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58768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3152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Chart views: 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2103120" y="384048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trend, provincial bar, Toronto/Vancouver comparison, interactive explorer</a:t>
            </a:r>
            <a:endParaRPr lang="en-US" sz="95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33088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31520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Admin: 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2103120" y="411480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HousingData registered with filters, search, and date ordering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365760" y="347472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20624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3474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 — Member 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Hitanshu Bhatt</a:t>
            </a:r>
          </a:p>
        </p:txBody>
      </p:sp>
      <p:sp>
        <p:nvSpPr>
          <p:cNvPr id="7" name="Text 4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000367185</a:t>
            </a:r>
          </a:p>
        </p:txBody>
      </p:sp>
      <p:sp>
        <p:nvSpPr>
          <p:cNvPr id="9" name="Text 6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572768"/>
            <a:ext cx="8503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02920" y="1664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Contributions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US" dirty="0"/>
              <a:t>Built Django Structure </a:t>
            </a:r>
          </a:p>
          <a:p>
            <a:endParaRPr lang="en-CA" dirty="0"/>
          </a:p>
        </p:txBody>
      </p:sp>
      <p:sp>
        <p:nvSpPr>
          <p:cNvPr id="14" name="Text 11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3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Built charts page</a:t>
            </a:r>
          </a:p>
        </p:txBody>
      </p:sp>
      <p:sp>
        <p:nvSpPr>
          <p:cNvPr id="17" name="Text 14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6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Cleaned and uploaded Dataset </a:t>
            </a:r>
          </a:p>
        </p:txBody>
      </p:sp>
      <p:sp>
        <p:nvSpPr>
          <p:cNvPr id="20" name="Text 17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19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Built Homepage </a:t>
            </a:r>
          </a:p>
        </p:txBody>
      </p:sp>
      <p:sp>
        <p:nvSpPr>
          <p:cNvPr id="23" name="Text 20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25" name="Text 22"/>
          <p:cNvSpPr/>
          <p:nvPr/>
        </p:nvSpPr>
        <p:spPr>
          <a:xfrm>
            <a:off x="50292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42245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visit GitHub Commits to view contributions</a:t>
            </a:r>
          </a:p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Link:- 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https://github.com/HitanshuBhatt/Canadian-housing-price-index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365760" y="347472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20624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3474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 — Member 2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CA" dirty="0"/>
          </a:p>
        </p:txBody>
      </p:sp>
      <p:sp>
        <p:nvSpPr>
          <p:cNvPr id="7" name="Text 4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/>
              <a:t>Harpreet Kaur </a:t>
            </a:r>
          </a:p>
        </p:txBody>
      </p:sp>
      <p:sp>
        <p:nvSpPr>
          <p:cNvPr id="8" name="Shape 5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CA" dirty="0"/>
          </a:p>
        </p:txBody>
      </p:sp>
      <p:sp>
        <p:nvSpPr>
          <p:cNvPr id="9" name="Text 6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/>
              <a:t>000375830</a:t>
            </a:r>
          </a:p>
        </p:txBody>
      </p:sp>
      <p:sp>
        <p:nvSpPr>
          <p:cNvPr id="10" name="Shape 7"/>
          <p:cNvSpPr/>
          <p:nvPr/>
        </p:nvSpPr>
        <p:spPr>
          <a:xfrm>
            <a:off x="320040" y="1572768"/>
            <a:ext cx="8503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02920" y="1664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Contributions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Login Page and database structure to accept logins </a:t>
            </a:r>
          </a:p>
        </p:txBody>
      </p:sp>
      <p:sp>
        <p:nvSpPr>
          <p:cNvPr id="14" name="Text 11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3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Signup Page and database structure to save Name, email, passwords and DOB</a:t>
            </a:r>
          </a:p>
        </p:txBody>
      </p:sp>
      <p:sp>
        <p:nvSpPr>
          <p:cNvPr id="17" name="Text 14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6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Upload Page </a:t>
            </a:r>
          </a:p>
        </p:txBody>
      </p:sp>
      <p:sp>
        <p:nvSpPr>
          <p:cNvPr id="20" name="Text 17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19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US" dirty="0"/>
              <a:t>Assisted in Django structure</a:t>
            </a:r>
            <a:endParaRPr lang="en-CA" dirty="0"/>
          </a:p>
        </p:txBody>
      </p:sp>
      <p:sp>
        <p:nvSpPr>
          <p:cNvPr id="23" name="Text 20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25" name="Text 22"/>
          <p:cNvSpPr/>
          <p:nvPr/>
        </p:nvSpPr>
        <p:spPr>
          <a:xfrm>
            <a:off x="50292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42245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Please visit GitHub Commits section, Upload Page was created on other group members laptop as mine did not work and  Assistance in Django Structure was provided on Hitanshu’s Laptop . </a:t>
            </a:r>
          </a:p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Contributions were done  on this GitHub Repository :-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https://github.com/HitanshuBhatt/Canadian-housing-price-index</a:t>
            </a:r>
            <a:endParaRPr lang="en-US" sz="1000" i="1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GitHub Link :- https://github.com/hkaur-01/Canadian_-housing_price_index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365760" y="347472"/>
            <a:ext cx="475488" cy="47548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20624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3474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 — Member 3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 err="1"/>
              <a:t>Yadveer</a:t>
            </a:r>
            <a:r>
              <a:rPr lang="en-CA" dirty="0"/>
              <a:t> Kaur </a:t>
            </a:r>
          </a:p>
        </p:txBody>
      </p:sp>
      <p:sp>
        <p:nvSpPr>
          <p:cNvPr id="7" name="Text 4"/>
          <p:cNvSpPr/>
          <p:nvPr/>
        </p:nvSpPr>
        <p:spPr>
          <a:xfrm>
            <a:off x="1051560" y="74980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000376834</a:t>
            </a:r>
            <a:endParaRPr lang="en-CA" dirty="0"/>
          </a:p>
        </p:txBody>
      </p:sp>
      <p:sp>
        <p:nvSpPr>
          <p:cNvPr id="9" name="Text 6"/>
          <p:cNvSpPr/>
          <p:nvPr/>
        </p:nvSpPr>
        <p:spPr>
          <a:xfrm>
            <a:off x="4572000" y="7498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1572768"/>
            <a:ext cx="8503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02920" y="1664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Contributions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PowerPoint presentation creation</a:t>
            </a:r>
          </a:p>
        </p:txBody>
      </p:sp>
      <p:sp>
        <p:nvSpPr>
          <p:cNvPr id="14" name="Text 11"/>
          <p:cNvSpPr/>
          <p:nvPr/>
        </p:nvSpPr>
        <p:spPr>
          <a:xfrm>
            <a:off x="457200" y="2011680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3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Assisted in creating Readme </a:t>
            </a:r>
          </a:p>
        </p:txBody>
      </p:sp>
      <p:sp>
        <p:nvSpPr>
          <p:cNvPr id="17" name="Text 14"/>
          <p:cNvSpPr/>
          <p:nvPr/>
        </p:nvSpPr>
        <p:spPr>
          <a:xfrm>
            <a:off x="457200" y="2395728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6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Assist in Reviewing screenshots and code formatting</a:t>
            </a:r>
          </a:p>
        </p:txBody>
      </p:sp>
      <p:sp>
        <p:nvSpPr>
          <p:cNvPr id="20" name="Text 17"/>
          <p:cNvSpPr/>
          <p:nvPr/>
        </p:nvSpPr>
        <p:spPr>
          <a:xfrm>
            <a:off x="457200" y="2779776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19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r>
              <a:rPr lang="en-CA" dirty="0"/>
              <a:t>Testing Code </a:t>
            </a:r>
          </a:p>
        </p:txBody>
      </p:sp>
      <p:sp>
        <p:nvSpPr>
          <p:cNvPr id="23" name="Text 20"/>
          <p:cNvSpPr/>
          <p:nvPr/>
        </p:nvSpPr>
        <p:spPr>
          <a:xfrm>
            <a:off x="457200" y="3163824"/>
            <a:ext cx="8366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25" name="Text 22"/>
          <p:cNvSpPr/>
          <p:nvPr/>
        </p:nvSpPr>
        <p:spPr>
          <a:xfrm>
            <a:off x="50292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42245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Contributions were done  on this GitHub Repository :- 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https://github.com/HitanshuBhatt/Canadian-housing-price-index</a:t>
            </a:r>
            <a:endParaRPr lang="en-US" sz="1000" i="1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GitHub Repository Link</a:t>
            </a:r>
            <a:r>
              <a:rPr lang="en-US" sz="10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:-  https://github.com/yadveerkaur21/final-python2-project</a:t>
            </a:r>
            <a:endParaRPr lang="en-US" sz="1000" i="1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visit GitHub Commits to view contributions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1253</Words>
  <Application>Microsoft Office PowerPoint</Application>
  <PresentationFormat>On-screen Show (16:9)</PresentationFormat>
  <Paragraphs>257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HousingAnalytics – Canadian HPI Dashboard</dc:title>
  <dc:subject>PptxGenJS Presentation</dc:subject>
  <dc:creator>PptxGenJS</dc:creator>
  <cp:lastModifiedBy>Hitanshu S. Bhatt</cp:lastModifiedBy>
  <cp:revision>7</cp:revision>
  <dcterms:created xsi:type="dcterms:W3CDTF">2026-04-20T04:31:35Z</dcterms:created>
  <dcterms:modified xsi:type="dcterms:W3CDTF">2026-04-20T05:56:25Z</dcterms:modified>
</cp:coreProperties>
</file>